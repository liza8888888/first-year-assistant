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Помощник по дисциплинам 1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7F5"/>
                </a:solidFill>
                <a:latin typeface="Calibri"/>
              </a:rPr>
              <a:t>ОП «Информатика и вычислительная техника», НИУ ВШЭ (МИЭМ), 2026/27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7F5"/>
                </a:solidFill>
                <a:latin typeface="Calibri"/>
              </a:rPr>
              <a:t>Отвечает на вопросы по страницам hse.ru и показывает источники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6E6"/>
                </a:solidFill>
                <a:latin typeface="Calibri"/>
              </a:rPr>
              <a:t>25 страниц дисциплин · 30 + 14 тестовых вопросов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Что делает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Вопрос на русском → краткий ответ из страниц курсов + ссылки на источники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5FD6"/>
                </a:solidFill>
                <a:latin typeface="Calibri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2004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25 страниц дисциплин 1 курса за 2026/27 (включая «углублённые» и «индустриальные» варианты) скачаны и разобраны в JSON: паспорт, аннотация, цель, результаты, содержание, элементы контроля, формулы, литература, авторы.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874519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5FD6"/>
                </a:solidFill>
                <a:latin typeface="Calibri"/>
              </a:rPr>
              <a:t>Вопросы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14600"/>
            <a:ext cx="32004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Формула оценивания, преподаватели, кредиты, модули, литература, содержание, цели, статус и язык, связи между дисциплинами (пре-/постреквизиты), сводные вопросы («что в 1 модуле», «где больше всего кредитов»).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874519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5FD6"/>
                </a:solidFill>
                <a:latin typeface="Calibri"/>
              </a:rPr>
              <a:t>Ответ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514600"/>
            <a:ext cx="32004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Короткий текст, собранный только из найденных фрагментов, и пронумерованный список источников — ссылки на страницы hse.ru. Если ответа нет — явный отказ, а не выдумка.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Детерминированный конвейер; LLM — необязательный последний шаг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Вопрос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286000"/>
            <a:ext cx="320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A5FD6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Нормализация:
сленг, склонения,
вариант курса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286000"/>
            <a:ext cx="320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A5FD6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Поиск курса
и намерения
(формула, литература…)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86000"/>
            <a:ext cx="320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A5FD6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Структурный
ответ из полей
страницы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86000"/>
            <a:ext cx="320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A5FD6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BM25 по фрагментам
(если шаблона нет)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286000"/>
            <a:ext cx="320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A5FD6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828800"/>
            <a:ext cx="1691640" cy="1554480"/>
          </a:xfrm>
          <a:prstGeom prst="roundRect">
            <a:avLst>
              <a:gd name="adj" fmla="val 6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828800"/>
            <a:ext cx="160020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Ответ +
источники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1106424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Страницы разобраны по полям, поэтому формулы оценивания превращаются в проценты («50% — Экзамен…»), а блокирующие элементы фильтруются точно, без «творчества» модели.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Связи между дисциплинами: предложения про пре-/постреквизиты из аннотаций + обратный поиск «какие страницы упоминают этот курс».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Свободный поиск: BM25 со стеммингом (Snowball, русский) по фрагментам ≤ 900 символов; порог релевантности отсекает вопросы вне темы.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• Внешняя LLM (Claude Haiku) подключается флагом --llm для пересказа найденных фрагментов; в тестах не использовалась — ключа в среде не было, результаты получены без неё.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Почему такой подход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5FD6"/>
                </a:solidFill>
                <a:latin typeface="Calibri"/>
              </a:rPr>
              <a:t>Точность важнее красноречия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44752"/>
            <a:ext cx="7132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Вопросы про формулы, кредиты и литературу требуют дословных цифр. Прямое чтение полей страницы не искажает числа — LLM-пересказ может.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79192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5FD6"/>
                </a:solidFill>
                <a:latin typeface="Calibri"/>
              </a:rPr>
              <a:t>Проверяемость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9192"/>
            <a:ext cx="7132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Каждый ответ ссылается на страницу; каждый шаблон проверяется автотестом (30/30 и 14/14 подтверждённых ошибок).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5FD6"/>
                </a:solidFill>
                <a:latin typeface="Calibri"/>
              </a:rPr>
              <a:t>Мало данных — не нужна векторная БД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913632"/>
            <a:ext cx="7132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25 страниц ≈ 500 фрагментов: BM25 + разбор по полям быстрее и прозрачнее, чем эмбеддинги; нет зависимости от API и стоимости.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48072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5FD6"/>
                </a:solidFill>
                <a:latin typeface="Calibri"/>
              </a:rPr>
              <a:t>Честные отказы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148072"/>
            <a:ext cx="7132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Если подходящего фрагмента нет, помощник говорит «в материалах ответа нет», а не додумывает.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Результаты тестов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Файл QA.md: вопросы, ответы, источники и автоматическая проверка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15803D"/>
                </a:solidFill>
                <a:latin typeface="Calibri"/>
              </a:rPr>
              <a:t>30 из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вопросов отвечены верно: формулы, кредиты, литература, связи, сводные вопросы, корректные отказы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B91C1C"/>
                </a:solidFill>
                <a:latin typeface="Calibri"/>
              </a:rPr>
              <a:t>14 из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проблемных вопросов дают неверный или неполный ответ — и это подтверждено проверкой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106424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A5C"/>
                </a:solidFill>
                <a:latin typeface="Calibri"/>
              </a:rPr>
              <a:t>Важно: наборы подобраны нами и автор системы знал её устройство — 30/30 показывает работоспособность шаблонов, а не точность на произвольных вопросах реальных студентов.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Живой пример из тестов: «Как считается оценка по матану за 2 модуль?» → 5% аудиторная работа, 15% коллоквиум, 15% контрольная, 50% экзамен — ссылка на страницу «Математический анализ».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Где решение ошибается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Реальные классы ошибок из части 2 файла QA.md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Сленг, опечатки, английский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«матеша», «препадаёт», “Calculus” — нет словаря синонимов и исправления опечаток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190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Нет данных — но ответ «шумит»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128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«В какой аудитории лекции?», «можно ли пересдать?» — выводятся близкие по словам фрагменты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192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Сравнение и вычисления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30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Разница обычного/углублённого курса; итоговый вес экзамена с учётом вложенных формул (60%)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461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3192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Гранулярность и роли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130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Темы по модулям, лекторы vs семинаристы — на страницах этого деления нет, система об этом не предупреждает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Связи и агрегаты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132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Обратные пререквизиты только по названиям в «», сводные вопросы — только по нескольким шаблонам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463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91947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Контекст и пробелы источника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413248"/>
            <a:ext cx="51663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Нет памяти диалога; у физкультуры на странице не указаны кредиты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5C"/>
                </a:solidFill>
                <a:latin typeface="Calibri"/>
              </a:rPr>
              <a:t>Что улучшили бы за ещё два дня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74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5FD6"/>
                </a:solidFill>
                <a:latin typeface="Calibri"/>
              </a:rPr>
              <a:t>День 1 — понимание вопроса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7492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Эмбеддинги (e5/bge-m3) + BM25 и реранкер вместо ручных регулярных выражений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Словарь синонимов из реальных вопросов студентов, исправление опечаток, английские запросы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Память диалога для уточнений («а у углублённого?»)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074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5FD6"/>
                </a:solidFill>
                <a:latin typeface="Calibri"/>
              </a:rPr>
              <a:t>День 2 — надёжность ответов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07492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LLM-генерация по найденным фрагментам с проверкой «каждое утверждение подтверждено цитатой»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Разворачивание вложенных формул и автоматический расчёт весов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Оценка на 100+ вопросах от студентов, метрики recall@k / faithfulness, ежедневное обновление страниц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